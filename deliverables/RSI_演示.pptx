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原始基座</c:v>
                </c:pt>
              </c:strCache>
            </c:strRef>
          </c:tx>
          <c:spPr>
            <a:solidFill>
              <a:srgbClr val="C5CCD6"/>
            </a:solidFill>
          </c:spPr>
          <c:cat>
            <c:strRef>
              <c:f>Sheet1!$A$2:$A$4</c:f>
              <c:strCache>
                <c:ptCount val="3"/>
                <c:pt idx="0">
                  <c:v>提示级·严格（主指标）</c:v>
                </c:pt>
                <c:pt idx="1">
                  <c:v>指令级·严格</c:v>
                </c:pt>
                <c:pt idx="2">
                  <c:v>训练未见过的指令类型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0.244</c:v>
                </c:pt>
                <c:pt idx="1">
                  <c:v>0.3741</c:v>
                </c:pt>
                <c:pt idx="2">
                  <c:v>0.3556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第6代</c:v>
                </c:pt>
              </c:strCache>
            </c:strRef>
          </c:tx>
          <c:spPr>
            <a:solidFill>
              <a:srgbClr val="5FB8B4"/>
            </a:solidFill>
          </c:spPr>
          <c:cat>
            <c:strRef>
              <c:f>Sheet1!$A$2:$A$4</c:f>
              <c:strCache>
                <c:ptCount val="3"/>
                <c:pt idx="0">
                  <c:v>提示级·严格（主指标）</c:v>
                </c:pt>
                <c:pt idx="1">
                  <c:v>指令级·严格</c:v>
                </c:pt>
                <c:pt idx="2">
                  <c:v>训练未见过的指令类型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0.3567</c:v>
                </c:pt>
                <c:pt idx="1">
                  <c:v>0.4808</c:v>
                </c:pt>
                <c:pt idx="2">
                  <c:v>0.4407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第9代</c:v>
                </c:pt>
              </c:strCache>
            </c:strRef>
          </c:tx>
          <c:spPr>
            <a:solidFill>
              <a:srgbClr val="2E9995"/>
            </a:solidFill>
          </c:spPr>
          <c:cat>
            <c:strRef>
              <c:f>Sheet1!$A$2:$A$4</c:f>
              <c:strCache>
                <c:ptCount val="3"/>
                <c:pt idx="0">
                  <c:v>提示级·严格（主指标）</c:v>
                </c:pt>
                <c:pt idx="1">
                  <c:v>指令级·严格</c:v>
                </c:pt>
                <c:pt idx="2">
                  <c:v>训练未见过的指令类型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0.4196</c:v>
                </c:pt>
                <c:pt idx="1">
                  <c:v>0.53</c:v>
                </c:pt>
                <c:pt idx="2">
                  <c:v>0.4741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第10代</c:v>
                </c:pt>
              </c:strCache>
            </c:strRef>
          </c:tx>
          <c:spPr>
            <a:solidFill>
              <a:srgbClr val="0E7C7B"/>
            </a:solidFill>
          </c:spPr>
          <c:cat>
            <c:strRef>
              <c:f>Sheet1!$A$2:$A$4</c:f>
              <c:strCache>
                <c:ptCount val="3"/>
                <c:pt idx="0">
                  <c:v>提示级·严格（主指标）</c:v>
                </c:pt>
                <c:pt idx="1">
                  <c:v>指令级·严格</c:v>
                </c:pt>
                <c:pt idx="2">
                  <c:v>训练未见过的指令类型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0.4233</c:v>
                </c:pt>
                <c:pt idx="1">
                  <c:v>0.5408</c:v>
                </c:pt>
                <c:pt idx="2">
                  <c:v>0.5037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 b="0">
                  <a:solidFill>
                    <a:srgbClr val="4A556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6EC"/>
            </a:solidFill>
          </a:ln>
        </c:spPr>
        <c:txPr>
          <a:bodyPr/>
          <a:lstStyle/>
          <a:p>
            <a:pPr>
              <a:defRPr sz="10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"/>
          <c:min val="0.0"/>
        </c:scaling>
        <c:delete val="0"/>
        <c:axPos val="l"/>
        <c:majorGridlines>
          <c:spPr>
            <a:ln>
              <a:solidFill>
                <a:srgbClr val="E2E6EC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 b="0">
              <a:solidFill>
                <a:srgbClr val="4A5568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4A5568"/>
          </a:solidFill>
          <a:latin typeface="Microsoft YaHei"/>
          <a:ea typeface="Microsoft YaHei"/>
          <a:cs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Thompson 采样：各改动算子的成功率后验（已尝试）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成功率后验均值</c:v>
                </c:pt>
              </c:strCache>
            </c:strRef>
          </c:tx>
          <c:spPr>
            <a:solidFill>
              <a:srgbClr val="0E7C7B"/>
            </a:solidFill>
          </c:spPr>
          <c:cat>
            <c:strRef>
              <c:f>Sheet1!$A$2:$A$19</c:f>
              <c:strCache>
                <c:ptCount val="18"/>
                <c:pt idx="0">
                  <c:v>数学金标↓ (n=3)</c:v>
                </c:pt>
                <c:pt idx="1">
                  <c:v>学习率↓ (n=2)</c:v>
                </c:pt>
                <c:pt idx="2">
                  <c:v>LoRA秩↓ (n=2)</c:v>
                </c:pt>
                <c:pt idx="3">
                  <c:v>数学金标↑ (n=2)</c:v>
                </c:pt>
                <c:pt idx="4">
                  <c:v>初始化切换 (n=2)</c:v>
                </c:pt>
                <c:pt idx="5">
                  <c:v>种子数据减半 (n=2)</c:v>
                </c:pt>
                <c:pt idx="6">
                  <c:v>自生成数据↑ (n=1)</c:v>
                </c:pt>
                <c:pt idx="7">
                  <c:v>规则增强↑ (n=1)</c:v>
                </c:pt>
                <c:pt idx="8">
                  <c:v>去掉数学金标 (n=1)</c:v>
                </c:pt>
                <c:pt idx="9">
                  <c:v>轮数↑ (n=3)</c:v>
                </c:pt>
                <c:pt idx="10">
                  <c:v>LoRA秩↑ (n=3)</c:v>
                </c:pt>
                <c:pt idx="11">
                  <c:v>种子数据↑ (n=3)</c:v>
                </c:pt>
                <c:pt idx="12">
                  <c:v>种子数据↓ (n=3)</c:v>
                </c:pt>
                <c:pt idx="13">
                  <c:v>自生成数据↓ (n=3)</c:v>
                </c:pt>
                <c:pt idx="14">
                  <c:v>规则增强↓ (n=3)</c:v>
                </c:pt>
                <c:pt idx="15">
                  <c:v>种子自蒸馏 (n=3)</c:v>
                </c:pt>
                <c:pt idx="16">
                  <c:v>学习率↑ (n=2)</c:v>
                </c:pt>
                <c:pt idx="17">
                  <c:v>轮数↓ (n=2)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0.2</c:v>
                </c:pt>
                <c:pt idx="1">
                  <c:v>0.25</c:v>
                </c:pt>
                <c:pt idx="2">
                  <c:v>0.25</c:v>
                </c:pt>
                <c:pt idx="3">
                  <c:v>0.25</c:v>
                </c:pt>
                <c:pt idx="4">
                  <c:v>0.25</c:v>
                </c:pt>
                <c:pt idx="5">
                  <c:v>0.25</c:v>
                </c:pt>
                <c:pt idx="6">
                  <c:v>0.333</c:v>
                </c:pt>
                <c:pt idx="7">
                  <c:v>0.333</c:v>
                </c:pt>
                <c:pt idx="8">
                  <c:v>0.333</c:v>
                </c:pt>
                <c:pt idx="9">
                  <c:v>0.4</c:v>
                </c:pt>
                <c:pt idx="10">
                  <c:v>0.4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0.4</c:v>
                </c:pt>
                <c:pt idx="16">
                  <c:v>0.5</c:v>
                </c:pt>
                <c:pt idx="17">
                  <c:v>0.5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0">
                  <a:solidFill>
                    <a:srgbClr val="4A556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2E6EC"/>
            </a:solidFill>
          </a:ln>
        </c:spPr>
        <c:txPr>
          <a:bodyPr/>
          <a:lstStyle/>
          <a:p>
            <a:pPr>
              <a:defRPr sz="10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>
          <c:spPr>
            <a:ln>
              <a:solidFill>
                <a:srgbClr val="E2E6EC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 b="0">
          <a:solidFill>
            <a:srgbClr val="4A5568"/>
          </a:solidFill>
          <a:latin typeface="Microsoft YaHei"/>
          <a:ea typeface="Microsoft YaHei"/>
          <a:cs typeface="Microsoft Ya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指令严格准确率</c:v>
                </c:pt>
              </c:strCache>
            </c:strRef>
          </c:tx>
          <c:spPr>
            <a:ln w="31750">
              <a:solidFill>
                <a:srgbClr val="0E7C7B"/>
              </a:solidFill>
            </a:ln>
          </c:spPr>
          <c:marker>
            <c:size val="8"/>
            <c:spPr>
              <a:solidFill>
                <a:srgbClr val="0E7C7B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200" b="1" i="0">
                        <a:solidFill>
                          <a:srgbClr val="0E7C7B"/>
                        </a:solidFill>
                        <a:latin typeface="Microsoft YaHei"/>
                        <a:ea typeface="Microsoft YaHei"/>
                        <a:cs typeface="Microsoft YaHei"/>
                      </a:rPr>
                      <a:t>26.5%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1200" b="1" i="0">
                        <a:solidFill>
                          <a:srgbClr val="0E7C7B"/>
                        </a:solidFill>
                        <a:latin typeface="Microsoft YaHei"/>
                        <a:ea typeface="Microsoft YaHei"/>
                        <a:cs typeface="Microsoft YaHei"/>
                      </a:rPr>
                      <a:t>46.0%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第0代</c:v>
                </c:pt>
                <c:pt idx="1">
                  <c:v>第1代</c:v>
                </c:pt>
                <c:pt idx="2">
                  <c:v>第2代</c:v>
                </c:pt>
                <c:pt idx="3">
                  <c:v>第3代</c:v>
                </c:pt>
                <c:pt idx="4">
                  <c:v>第4代</c:v>
                </c:pt>
                <c:pt idx="5">
                  <c:v>第5代</c:v>
                </c:pt>
                <c:pt idx="6">
                  <c:v>第6代</c:v>
                </c:pt>
                <c:pt idx="7">
                  <c:v>第7代</c:v>
                </c:pt>
                <c:pt idx="8">
                  <c:v>第8代</c:v>
                </c:pt>
                <c:pt idx="9">
                  <c:v>第9代</c:v>
                </c:pt>
                <c:pt idx="10">
                  <c:v>第10代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0.265</c:v>
                </c:pt>
                <c:pt idx="1">
                  <c:v>0.265</c:v>
                </c:pt>
                <c:pt idx="2">
                  <c:v>0.265</c:v>
                </c:pt>
                <c:pt idx="3">
                  <c:v>0.265</c:v>
                </c:pt>
                <c:pt idx="4">
                  <c:v>0.265</c:v>
                </c:pt>
                <c:pt idx="5">
                  <c:v>0.265</c:v>
                </c:pt>
                <c:pt idx="6">
                  <c:v>0.345</c:v>
                </c:pt>
                <c:pt idx="7">
                  <c:v>0.345</c:v>
                </c:pt>
                <c:pt idx="8">
                  <c:v>0.345</c:v>
                </c:pt>
                <c:pt idx="9">
                  <c:v>0.48</c:v>
                </c:pt>
                <c:pt idx="10">
                  <c:v>0.46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约束级准确率</c:v>
                </c:pt>
              </c:strCache>
            </c:strRef>
          </c:tx>
          <c:spPr>
            <a:ln w="31750">
              <a:solidFill>
                <a:srgbClr val="5FB8B4"/>
              </a:solidFill>
            </a:ln>
          </c:spPr>
          <c:marker>
            <c:size val="8"/>
            <c:spPr>
              <a:solidFill>
                <a:srgbClr val="5FB8B4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第0代</c:v>
                </c:pt>
                <c:pt idx="1">
                  <c:v>第1代</c:v>
                </c:pt>
                <c:pt idx="2">
                  <c:v>第2代</c:v>
                </c:pt>
                <c:pt idx="3">
                  <c:v>第3代</c:v>
                </c:pt>
                <c:pt idx="4">
                  <c:v>第4代</c:v>
                </c:pt>
                <c:pt idx="5">
                  <c:v>第5代</c:v>
                </c:pt>
                <c:pt idx="6">
                  <c:v>第6代</c:v>
                </c:pt>
                <c:pt idx="7">
                  <c:v>第7代</c:v>
                </c:pt>
                <c:pt idx="8">
                  <c:v>第8代</c:v>
                </c:pt>
                <c:pt idx="9">
                  <c:v>第9代</c:v>
                </c:pt>
                <c:pt idx="10">
                  <c:v>第10代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0.4518</c:v>
                </c:pt>
                <c:pt idx="1">
                  <c:v>0.4518</c:v>
                </c:pt>
                <c:pt idx="2">
                  <c:v>0.4518</c:v>
                </c:pt>
                <c:pt idx="3">
                  <c:v>0.4518</c:v>
                </c:pt>
                <c:pt idx="4">
                  <c:v>0.4518</c:v>
                </c:pt>
                <c:pt idx="5">
                  <c:v>0.4518</c:v>
                </c:pt>
                <c:pt idx="6">
                  <c:v>0.5609</c:v>
                </c:pt>
                <c:pt idx="7">
                  <c:v>0.5609</c:v>
                </c:pt>
                <c:pt idx="8">
                  <c:v>0.5609</c:v>
                </c:pt>
                <c:pt idx="9">
                  <c:v>0.6447</c:v>
                </c:pt>
                <c:pt idx="10">
                  <c:v>0.6345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GSM8K</c:v>
                </c:pt>
              </c:strCache>
            </c:strRef>
          </c:tx>
          <c:spPr>
            <a:ln w="31750">
              <a:solidFill>
                <a:srgbClr val="F29F05"/>
              </a:solidFill>
            </a:ln>
          </c:spPr>
          <c:marker>
            <c:size val="8"/>
            <c:spPr>
              <a:solidFill>
                <a:srgbClr val="F29F05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第0代</c:v>
                </c:pt>
                <c:pt idx="1">
                  <c:v>第1代</c:v>
                </c:pt>
                <c:pt idx="2">
                  <c:v>第2代</c:v>
                </c:pt>
                <c:pt idx="3">
                  <c:v>第3代</c:v>
                </c:pt>
                <c:pt idx="4">
                  <c:v>第4代</c:v>
                </c:pt>
                <c:pt idx="5">
                  <c:v>第5代</c:v>
                </c:pt>
                <c:pt idx="6">
                  <c:v>第6代</c:v>
                </c:pt>
                <c:pt idx="7">
                  <c:v>第7代</c:v>
                </c:pt>
                <c:pt idx="8">
                  <c:v>第8代</c:v>
                </c:pt>
                <c:pt idx="9">
                  <c:v>第9代</c:v>
                </c:pt>
                <c:pt idx="10">
                  <c:v>第10代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0.7267</c:v>
                </c:pt>
                <c:pt idx="1">
                  <c:v>0.7267</c:v>
                </c:pt>
                <c:pt idx="2">
                  <c:v>0.7267</c:v>
                </c:pt>
                <c:pt idx="3">
                  <c:v>0.7267</c:v>
                </c:pt>
                <c:pt idx="4">
                  <c:v>0.7267</c:v>
                </c:pt>
                <c:pt idx="5">
                  <c:v>0.7267</c:v>
                </c:pt>
                <c:pt idx="6">
                  <c:v>0.7933</c:v>
                </c:pt>
                <c:pt idx="7">
                  <c:v>0.7933</c:v>
                </c:pt>
                <c:pt idx="8">
                  <c:v>0.7933</c:v>
                </c:pt>
                <c:pt idx="9">
                  <c:v>0.8267</c:v>
                </c:pt>
                <c:pt idx="10">
                  <c:v>0.8067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6EC"/>
            </a:solidFill>
          </a:ln>
        </c:spPr>
        <c:txPr>
          <a:bodyPr/>
          <a:lstStyle/>
          <a:p>
            <a:pPr>
              <a:defRPr sz="10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2E6EC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 b="0">
              <a:solidFill>
                <a:srgbClr val="4A5568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4A5568"/>
          </a:solidFill>
          <a:latin typeface="Microsoft YaHei"/>
          <a:ea typeface="Microsoft YaHei"/>
          <a:cs typeface="Microsoft YaHe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原始基座</c:v>
                </c:pt>
              </c:strCache>
            </c:strRef>
          </c:tx>
          <c:spPr>
            <a:solidFill>
              <a:srgbClr val="C5CCD6"/>
            </a:solidFill>
          </c:spPr>
          <c:cat>
            <c:strRef>
              <c:f>Sheet1!$A$2:$A$19</c:f>
              <c:strCache>
                <c:ptCount val="18"/>
                <c:pt idx="0">
                  <c:v>禁用逗号</c:v>
                </c:pt>
                <c:pt idx="1">
                  <c:v>指定结尾</c:v>
                </c:pt>
                <c:pt idx="2">
                  <c:v>禁用词</c:v>
                </c:pt>
                <c:pt idx="3">
                  <c:v>全小写</c:v>
                </c:pt>
                <c:pt idx="4">
                  <c:v>段落数(***)</c:v>
                </c:pt>
                <c:pt idx="5">
                  <c:v>[占位符]</c:v>
                </c:pt>
                <c:pt idx="6">
                  <c:v>精确条目数</c:v>
                </c:pt>
                <c:pt idx="7">
                  <c:v>字数下限</c:v>
                </c:pt>
                <c:pt idx="8">
                  <c:v>JSON格式</c:v>
                </c:pt>
                <c:pt idx="9">
                  <c:v>字数上限</c:v>
                </c:pt>
                <c:pt idx="10">
                  <c:v>&lt;&lt;标题&gt;&gt;</c:v>
                </c:pt>
                <c:pt idx="11">
                  <c:v>SECTION分节</c:v>
                </c:pt>
                <c:pt idx="12">
                  <c:v>指定开头</c:v>
                </c:pt>
                <c:pt idx="13">
                  <c:v>包含关键词</c:v>
                </c:pt>
                <c:pt idx="14">
                  <c:v>*高亮*</c:v>
                </c:pt>
                <c:pt idx="15">
                  <c:v>全大写</c:v>
                </c:pt>
                <c:pt idx="16">
                  <c:v>引号包裹</c:v>
                </c:pt>
                <c:pt idx="17">
                  <c:v>P.S.附言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0.632</c:v>
                </c:pt>
                <c:pt idx="1">
                  <c:v>0.524</c:v>
                </c:pt>
                <c:pt idx="2">
                  <c:v>0.731</c:v>
                </c:pt>
                <c:pt idx="3">
                  <c:v>0.524</c:v>
                </c:pt>
                <c:pt idx="4">
                  <c:v>0.0</c:v>
                </c:pt>
                <c:pt idx="5">
                  <c:v>0.444</c:v>
                </c:pt>
                <c:pt idx="6">
                  <c:v>0.353</c:v>
                </c:pt>
                <c:pt idx="7">
                  <c:v>0.536</c:v>
                </c:pt>
                <c:pt idx="8">
                  <c:v>0.588</c:v>
                </c:pt>
                <c:pt idx="9">
                  <c:v>0.65</c:v>
                </c:pt>
                <c:pt idx="10">
                  <c:v>0.68</c:v>
                </c:pt>
                <c:pt idx="11">
                  <c:v>0.421</c:v>
                </c:pt>
                <c:pt idx="12">
                  <c:v>0.733</c:v>
                </c:pt>
                <c:pt idx="13">
                  <c:v>0.5</c:v>
                </c:pt>
                <c:pt idx="14">
                  <c:v>0.263</c:v>
                </c:pt>
                <c:pt idx="15">
                  <c:v>0.08</c:v>
                </c:pt>
                <c:pt idx="16">
                  <c:v>0.08</c:v>
                </c:pt>
                <c:pt idx="17">
                  <c:v>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冠军（第10代）</c:v>
                </c:pt>
              </c:strCache>
            </c:strRef>
          </c:tx>
          <c:spPr>
            <a:solidFill>
              <a:srgbClr val="0E7C7B"/>
            </a:solidFill>
          </c:spPr>
          <c:cat>
            <c:strRef>
              <c:f>Sheet1!$A$2:$A$19</c:f>
              <c:strCache>
                <c:ptCount val="18"/>
                <c:pt idx="0">
                  <c:v>禁用逗号</c:v>
                </c:pt>
                <c:pt idx="1">
                  <c:v>指定结尾</c:v>
                </c:pt>
                <c:pt idx="2">
                  <c:v>禁用词</c:v>
                </c:pt>
                <c:pt idx="3">
                  <c:v>全小写</c:v>
                </c:pt>
                <c:pt idx="4">
                  <c:v>段落数(***)</c:v>
                </c:pt>
                <c:pt idx="5">
                  <c:v>[占位符]</c:v>
                </c:pt>
                <c:pt idx="6">
                  <c:v>精确条目数</c:v>
                </c:pt>
                <c:pt idx="7">
                  <c:v>字数下限</c:v>
                </c:pt>
                <c:pt idx="8">
                  <c:v>JSON格式</c:v>
                </c:pt>
                <c:pt idx="9">
                  <c:v>字数上限</c:v>
                </c:pt>
                <c:pt idx="10">
                  <c:v>&lt;&lt;标题&gt;&gt;</c:v>
                </c:pt>
                <c:pt idx="11">
                  <c:v>SECTION分节</c:v>
                </c:pt>
                <c:pt idx="12">
                  <c:v>指定开头</c:v>
                </c:pt>
                <c:pt idx="13">
                  <c:v>包含关键词</c:v>
                </c:pt>
                <c:pt idx="14">
                  <c:v>*高亮*</c:v>
                </c:pt>
                <c:pt idx="15">
                  <c:v>全大写</c:v>
                </c:pt>
                <c:pt idx="16">
                  <c:v>引号包裹</c:v>
                </c:pt>
                <c:pt idx="17">
                  <c:v>P.S.附言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0.342</c:v>
                </c:pt>
                <c:pt idx="1">
                  <c:v>0.524</c:v>
                </c:pt>
                <c:pt idx="2">
                  <c:v>0.731</c:v>
                </c:pt>
                <c:pt idx="3">
                  <c:v>0.571</c:v>
                </c:pt>
                <c:pt idx="4">
                  <c:v>0.053</c:v>
                </c:pt>
                <c:pt idx="5">
                  <c:v>0.5</c:v>
                </c:pt>
                <c:pt idx="6">
                  <c:v>0.412</c:v>
                </c:pt>
                <c:pt idx="7">
                  <c:v>0.679</c:v>
                </c:pt>
                <c:pt idx="8">
                  <c:v>0.765</c:v>
                </c:pt>
                <c:pt idx="9">
                  <c:v>0.85</c:v>
                </c:pt>
                <c:pt idx="10">
                  <c:v>0.92</c:v>
                </c:pt>
                <c:pt idx="11">
                  <c:v>0.684</c:v>
                </c:pt>
                <c:pt idx="12">
                  <c:v>1.0</c:v>
                </c:pt>
                <c:pt idx="13">
                  <c:v>0.808</c:v>
                </c:pt>
                <c:pt idx="14">
                  <c:v>0.684</c:v>
                </c:pt>
                <c:pt idx="15">
                  <c:v>0.56</c:v>
                </c:pt>
                <c:pt idx="16">
                  <c:v>0.68</c:v>
                </c:pt>
                <c:pt idx="17">
                  <c:v>0.867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2E6EC"/>
            </a:solidFill>
          </a:ln>
        </c:spPr>
        <c:txPr>
          <a:bodyPr/>
          <a:lstStyle/>
          <a:p>
            <a:pPr>
              <a:defRPr sz="10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>
          <c:spPr>
            <a:ln>
              <a:solidFill>
                <a:srgbClr val="E2E6EC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 b="0">
              <a:solidFill>
                <a:srgbClr val="4A5568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4A5568"/>
          </a:solidFill>
          <a:latin typeface="Microsoft YaHei"/>
          <a:ea typeface="Microsoft YaHei"/>
          <a:cs typeface="Microsoft YaHe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每代最佳候选的数学准确率（基座 74.0%，门槛 71.0%）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最佳候选 GSM8K (dev)</c:v>
                </c:pt>
              </c:strCache>
            </c:strRef>
          </c:tx>
          <c:dPt>
            <c:idx val="0"/>
            <c:spPr>
              <a:solidFill>
                <a:srgbClr val="C5CCD6"/>
              </a:solidFill>
            </c:spPr>
          </c:dPt>
          <c:dPt>
            <c:idx val="1"/>
            <c:spPr>
              <a:solidFill>
                <a:srgbClr val="C5CCD6"/>
              </a:solidFill>
            </c:spPr>
          </c:dPt>
          <c:dPt>
            <c:idx val="2"/>
            <c:spPr>
              <a:solidFill>
                <a:srgbClr val="C5CCD6"/>
              </a:solidFill>
            </c:spPr>
          </c:dPt>
          <c:dPt>
            <c:idx val="3"/>
            <c:spPr>
              <a:solidFill>
                <a:srgbClr val="C5CCD6"/>
              </a:solidFill>
            </c:spPr>
          </c:dPt>
          <c:dPt>
            <c:idx val="4"/>
            <c:spPr>
              <a:solidFill>
                <a:srgbClr val="C5CCD6"/>
              </a:solidFill>
            </c:spPr>
          </c:dPt>
          <c:dPt>
            <c:idx val="5"/>
            <c:spPr>
              <a:solidFill>
                <a:srgbClr val="0E7C7B"/>
              </a:solidFill>
            </c:spPr>
          </c:dPt>
          <c:dPt>
            <c:idx val="6"/>
            <c:spPr>
              <a:solidFill>
                <a:srgbClr val="0E7C7B"/>
              </a:solidFill>
            </c:spPr>
          </c:dPt>
          <c:dPt>
            <c:idx val="7"/>
            <c:spPr>
              <a:solidFill>
                <a:srgbClr val="0E7C7B"/>
              </a:solidFill>
            </c:spPr>
          </c:dPt>
          <c:dPt>
            <c:idx val="8"/>
            <c:spPr>
              <a:solidFill>
                <a:srgbClr val="0E7C7B"/>
              </a:solidFill>
            </c:spPr>
          </c:dPt>
          <c:dPt>
            <c:idx val="9"/>
            <c:spPr>
              <a:solidFill>
                <a:srgbClr val="0E7C7B"/>
              </a:solidFill>
            </c:spPr>
          </c:dPt>
          <c:cat>
            <c:strRef>
              <c:f>Sheet1!$A$2:$A$11</c:f>
              <c:strCache>
                <c:ptCount val="10"/>
                <c:pt idx="0">
                  <c:v>第1代</c:v>
                </c:pt>
                <c:pt idx="1">
                  <c:v>第2代</c:v>
                </c:pt>
                <c:pt idx="2">
                  <c:v>第3代</c:v>
                </c:pt>
                <c:pt idx="3">
                  <c:v>第4代</c:v>
                </c:pt>
                <c:pt idx="4">
                  <c:v>第5代</c:v>
                </c:pt>
                <c:pt idx="5">
                  <c:v>第6代</c:v>
                </c:pt>
                <c:pt idx="6">
                  <c:v>第7代</c:v>
                </c:pt>
                <c:pt idx="7">
                  <c:v>第8代</c:v>
                </c:pt>
                <c:pt idx="8">
                  <c:v>第9代</c:v>
                </c:pt>
                <c:pt idx="9">
                  <c:v>第10代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0.693</c:v>
                </c:pt>
                <c:pt idx="1">
                  <c:v>0.707</c:v>
                </c:pt>
                <c:pt idx="2">
                  <c:v>0.687</c:v>
                </c:pt>
                <c:pt idx="3">
                  <c:v>0.7</c:v>
                </c:pt>
                <c:pt idx="4">
                  <c:v>0.687</c:v>
                </c:pt>
                <c:pt idx="5">
                  <c:v>0.853</c:v>
                </c:pt>
                <c:pt idx="6">
                  <c:v>0.82</c:v>
                </c:pt>
                <c:pt idx="7">
                  <c:v>0.813</c:v>
                </c:pt>
                <c:pt idx="8">
                  <c:v>0.82</c:v>
                </c:pt>
                <c:pt idx="9">
                  <c:v>0.833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0">
                  <a:solidFill>
                    <a:srgbClr val="4A556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6EC"/>
            </a:solidFill>
          </a:ln>
        </c:spPr>
        <c:txPr>
          <a:bodyPr/>
          <a:lstStyle/>
          <a:p>
            <a:pPr>
              <a:defRPr sz="10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"/>
          <c:min val="0.5"/>
        </c:scaling>
        <c:delete val="0"/>
        <c:axPos val="l"/>
        <c:majorGridlines>
          <c:spPr>
            <a:ln>
              <a:solidFill>
                <a:srgbClr val="E2E6EC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 b="0">
          <a:solidFill>
            <a:srgbClr val="4A5568"/>
          </a:solidFill>
          <a:latin typeface="Microsoft YaHei"/>
          <a:ea typeface="Microsoft YaHei"/>
          <a:cs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本项目把后训练中最依赖人工的三件事：造数据、调配方、判断好坏，交给系统自己闭环完成。试点选择指令微调，因为指令约束可以被程序精确验证。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左两块是目标能力，右两块是守护指标。所有数字来自独立测试集，系统在进化过程中从未看到它。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项目内测试集的约束模板与训练同源，可能高估泛化；因此用官方 IFEval 做第三方复核。宽松口径会去掉首尾行、markdown 星号后再判分。</a:t>
            </a:r>
          </a:p>
          <a:p>
            <a:r>
              <a:t>分项里 no_comma、forbidden_words 看似回退，是测量假象：基座大量“通过”来自复读失控的输出（复读文本天然不含逗号/禁用词）。no_comma：基座通过 48/66，其中 36 条为复读；冠军 24/66，其中 6 条复读；剔除复读后 12 → 18。forbidden_words：基座 27/49（19 条复读），冠军 20/49（7 条复读）；剔除后 8 → 13。（以上分项为第 6 代与基座的对比）</a:t>
            </a:r>
          </a:p>
          <a:p>
            <a:r>
              <a:t>宽松口径（提示级/指令级）：基座 26.8%/39.8%；第6代 38.1%/50.5%；第9代 45.3%/56.5%；第10代 44.9%/57.4%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深色三步是“自”的部分：数据由模型自己产生，由程序自己验证，晋升由统计自己决定。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折线为每一代结束时冠军在独立测试集上的表现；未晋升的代沿用上一冠军，所以是平台。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29F05"/>
                </a:solidFill>
                <a:latin typeface="Microsoft YaHei"/>
                <a:ea typeface="Microsoft YaHei"/>
                <a:cs typeface="Microsoft YaHei"/>
              </a:rPr>
              <a:t>RECURSIVE SELF-IMPROVEMENT · 试点：指令微调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基于大模型后训练的</a:t>
            </a:r>
          </a:p>
          <a:p>
            <a:pPr algn="l"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指令微调自进化系统 RSI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862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9D3E0"/>
                </a:solidFill>
                <a:latin typeface="Microsoft YaHei"/>
                <a:ea typeface="Microsoft YaHei"/>
                <a:cs typeface="Microsoft YaHei"/>
              </a:rPr>
              <a:t>模型自己出题、自己作答、程序化验证、自动选配方、统计门控晋升，一代代变强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212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基座 Qwen3-1.7B-Base · 单卡 RTX 4090 · 已自主进化 10 代</a:t>
            </a:r>
          </a:p>
        </p:txBody>
      </p:sp>
      <p:sp>
        <p:nvSpPr>
          <p:cNvPr id="6" name="Donut 5"/>
          <p:cNvSpPr/>
          <p:nvPr/>
        </p:nvSpPr>
        <p:spPr>
          <a:xfrm>
            <a:off x="9418320" y="4297680"/>
            <a:ext cx="1645920" cy="1645920"/>
          </a:xfrm>
          <a:prstGeom prst="donut">
            <a:avLst>
              <a:gd name="adj" fmla="val 12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44200" y="4343400"/>
            <a:ext cx="292608" cy="292608"/>
          </a:xfrm>
          <a:prstGeom prst="ellipse">
            <a:avLst/>
          </a:prstGeom>
          <a:solidFill>
            <a:srgbClr val="F29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核心结果 · 测试集（不参与任何选择）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一句话结论：无人工标注，指令遵循能力自主提升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指令遵循 · 严格准确率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46.0%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基座 26.5%　</a:t>
            </a:r>
            <a:r>
              <a:rPr sz="13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+19.5 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全部约束都满足才算对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4592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指令遵循 · 约束级准确率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63.5%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97180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基座 45.2%　</a:t>
            </a:r>
            <a:r>
              <a:rPr sz="13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+18.3 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33756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逐条约束统计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4592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55080" y="178308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GSM8K 数学推理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4884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80.7%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97180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基座 72.7%　</a:t>
            </a:r>
            <a:r>
              <a:rPr sz="13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+8.0 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33756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守护指标：不允许明显回退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164592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0" y="178308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输出退化率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14884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9.1%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97180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基座 23.1%　</a:t>
            </a:r>
            <a:r>
              <a:rPr sz="13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-14.0 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33756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不停止 / 复读，越低越好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110642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闭环自动化　</a:t>
            </a:r>
            <a:r>
              <a:rPr sz="135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10 代进化、3 次晋升全部由系统自主决策；共训练评测 29 个候选模型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零人工标注　</a:t>
            </a:r>
            <a:r>
              <a:rPr sz="135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冠军模型自生成并经程序验证的训练样本累计 14130 条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可信的提升　</a:t>
            </a:r>
            <a:r>
              <a:rPr sz="135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test 只用于汇报；晋升在每代新抽的门控集上与冠军同场比较，需 P(更优) ≥ 0.8 且守护指标不回退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诚实说明　　</a:t>
            </a:r>
            <a:r>
              <a:rPr sz="135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第9代在项目 test 上略高（严格 48.0%），官方 IFEval 上第10代 42.3% vs 42.0%；差异均在噪声内，视为同一水平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稳健口径　　</a:t>
            </a:r>
            <a:r>
              <a:rPr sz="135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剔除不足 20 词的“钻空子”回答后，严格准确率 21.5% → 40.0%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低成本　　　</a:t>
            </a:r>
            <a:r>
              <a:rPr sz="135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单张 RTX 4090，累计约 10.8 GPU 小时；全部数据与缓存位于 D 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RSI · 基于大模型后训练的指令微调自进化系统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独立基准 · google/IFEval 全部 541 题 · 官方评分代码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第三方验证：官方 IFEval 上同样提升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69494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60020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提示级·严格准确率（官方主指标）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965960"/>
            <a:ext cx="3749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24.4% → 42.3%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788920"/>
            <a:ext cx="37490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+17.9 点</a:t>
            </a:r>
            <a:r>
              <a:rPr sz="12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　配对 bootstrap 90%CI [+13.9, +22.0]，P(更优)=1.00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611880"/>
            <a:ext cx="374903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训练中从未见过的指令类型</a:t>
            </a: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（270 条）：35.6% → 50.4%，说明是能力迁移而非套模板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剔除不足 20 词的“通过”</a:t>
            </a: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：提示级严格 19.8% → 35.1%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人工撰写 541 题、25 类指令，官方判分；ChatML + 贪心 + 最长 1280 token，完成率 31% → 83%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RSI · 基于大模型后训练的指令微调自进化系统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问题与思路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为什么要让后训练“自进化”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4846320" cy="128016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数据靠人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389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指令数据依赖人工撰写与标注，昂贵、慢、难以针对模型弱点补充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32120" y="2286000"/>
            <a:ext cx="868680" cy="0"/>
          </a:xfrm>
          <a:prstGeom prst="line">
            <a:avLst/>
          </a:prstGeom>
          <a:ln w="31750">
            <a:solidFill>
              <a:srgbClr val="F29F0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37960" y="1645920"/>
            <a:ext cx="5074920" cy="128016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12280" y="181051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模型自己造数据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194560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冠军模型针对自身弱项出题、多次采样、程序验证后留下合格样本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54680"/>
            <a:ext cx="4846320" cy="128016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331927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配方靠试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4389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学习率、轮数、LoRA 秩、数据配比靠工程师反复手调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532120" y="3794760"/>
            <a:ext cx="868680" cy="0"/>
          </a:xfrm>
          <a:prstGeom prst="line">
            <a:avLst/>
          </a:prstGeom>
          <a:ln w="31750">
            <a:solidFill>
              <a:srgbClr val="F29F0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37960" y="3154680"/>
            <a:ext cx="5074920" cy="128016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12280" y="33192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系统自己选配方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703320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元优化器提出候选配方，并从历史成败中学习哪类改动更可能有效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63440"/>
            <a:ext cx="4846320" cy="128016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4828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好坏靠看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12080"/>
            <a:ext cx="4389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改了以后是否真的更好，常依赖少量样例的主观判断，易被噪声误导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532120" y="5303520"/>
            <a:ext cx="868680" cy="0"/>
          </a:xfrm>
          <a:prstGeom prst="line">
            <a:avLst/>
          </a:prstGeom>
          <a:ln w="31750">
            <a:solidFill>
              <a:srgbClr val="F29F0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537960" y="4663440"/>
            <a:ext cx="5074920" cy="128016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12280" y="482803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统计自己把关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5212080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固定 dev/test 自动评测 + 配对 bootstrap 门控，提升不显著就回滚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RSI · 基于大模型后训练的指令微调自进化系统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系统架构：一代 = 一次完整的自我改进闭环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① 诊断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58568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读取冠军在 dev 上各约束类型的通过率，找出弱项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8848" y="160020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27448" y="1783080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自生成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2258568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冠军按弱项加权出题，每题采样 k 次作答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11896" y="160020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40496" y="1783080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验证筛选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0496" y="2258568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程序化校验 18 类约束与数学答案，只留合格样本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11896" y="388620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40496" y="4069080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④ 配方提议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96" y="4544568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元优化器对冠军配方施加 1–2 个改动算子，得到 N 个候选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8848" y="388620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27448" y="4069080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⑤ 训练评测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4544568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LoRA SFT 训练候选，并在固定 dev 集上自动评测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8620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4069080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⑥ 门控反思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44568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显著更优才晋升（并测 test），更新算子经验与数据引擎参数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05072" y="2400300"/>
            <a:ext cx="420624" cy="0"/>
          </a:xfrm>
          <a:prstGeom prst="line">
            <a:avLst/>
          </a:prstGeom>
          <a:ln w="25400">
            <a:solidFill>
              <a:srgbClr val="0E7C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18120" y="2400300"/>
            <a:ext cx="420624" cy="0"/>
          </a:xfrm>
          <a:prstGeom prst="line">
            <a:avLst/>
          </a:prstGeom>
          <a:ln w="25400">
            <a:solidFill>
              <a:srgbClr val="0E7C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934956" y="3273552"/>
            <a:ext cx="0" cy="539496"/>
          </a:xfrm>
          <a:prstGeom prst="line">
            <a:avLst/>
          </a:prstGeom>
          <a:ln w="25400">
            <a:solidFill>
              <a:srgbClr val="0E7C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818120" y="4686300"/>
            <a:ext cx="420624" cy="0"/>
          </a:xfrm>
          <a:prstGeom prst="line">
            <a:avLst/>
          </a:prstGeom>
          <a:ln w="25400">
            <a:solidFill>
              <a:srgbClr val="0E7C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005072" y="4686300"/>
            <a:ext cx="420624" cy="0"/>
          </a:xfrm>
          <a:prstGeom prst="line">
            <a:avLst/>
          </a:prstGeom>
          <a:ln w="25400">
            <a:solidFill>
              <a:srgbClr val="0E7C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308860" y="3273552"/>
            <a:ext cx="0" cy="539496"/>
          </a:xfrm>
          <a:prstGeom prst="line">
            <a:avLst/>
          </a:prstGeom>
          <a:ln w="25400">
            <a:solidFill>
              <a:srgbClr val="F29F0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418588" y="331012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29F05"/>
                </a:solidFill>
                <a:latin typeface="Microsoft YaHei"/>
                <a:ea typeface="Microsoft YaHei"/>
                <a:cs typeface="Microsoft YaHei"/>
              </a:rPr>
              <a:t>新冠军进入下一代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RSI · 基于大模型后训练的指令微调自进化系统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核心模块 ① 数据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自数据引擎：能被验证的数据，才能放心自产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6035040" cy="82296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自生成·指令</a:t>
            </a:r>
            <a:r>
              <a:rPr sz="12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　拒绝采样微调 (ReST-EM)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8424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冠军回答带约束的指令，k 个样本中全部约束通过、无退化者入池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6035040" cy="82296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2542032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自生成·数学</a:t>
            </a:r>
            <a:r>
              <a:rPr sz="12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　STaR 自举推理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9864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冠军解 GSM8K 训练题，最终答案正确的最短推理链入池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6035040" cy="82296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3456432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自蒸馏种子</a:t>
            </a:r>
            <a:r>
              <a:rPr sz="12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　SDFT 防遗忘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1304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冠军自己回答普通指令，替代外部参考答案，避免把模型拉离自身分布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6035040" cy="82296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4370832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课程加权</a:t>
            </a:r>
            <a:r>
              <a:rPr sz="12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　弱项优先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2744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约束类型抽样权重 ∝ (1−通过率+0.05)^强度，强度随通过率自动调高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12080"/>
            <a:ext cx="6035040" cy="82296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5285232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规则增强 / 外部种子</a:t>
            </a:r>
            <a:r>
              <a:rPr sz="12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　冷启动先验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4184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种子回答经程序改写满足约束；alpaca / GSM8K 金标作可选外部数据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18 类可程序验证的约束（IFEval 风格）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2057400"/>
            <a:ext cx="1481328" cy="4206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949440" y="2057400"/>
            <a:ext cx="14813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全小写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22208" y="2057400"/>
            <a:ext cx="1481328" cy="4206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522208" y="2057400"/>
            <a:ext cx="14813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全大写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94976" y="2057400"/>
            <a:ext cx="1481328" cy="4206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094976" y="2057400"/>
            <a:ext cx="14813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禁用逗号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2569464"/>
            <a:ext cx="1481328" cy="4206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949440" y="2569464"/>
            <a:ext cx="14813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字数上限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22208" y="2569464"/>
            <a:ext cx="1481328" cy="4206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522208" y="2569464"/>
            <a:ext cx="14813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字数下限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94976" y="2569464"/>
            <a:ext cx="1481328" cy="4206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094976" y="2569464"/>
            <a:ext cx="14813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指定结尾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0" y="3081528"/>
            <a:ext cx="1481328" cy="4206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949440" y="3081528"/>
            <a:ext cx="14813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指定开头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22208" y="3081528"/>
            <a:ext cx="1481328" cy="4206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522208" y="3081528"/>
            <a:ext cx="14813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引号包裹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94976" y="3081528"/>
            <a:ext cx="1481328" cy="4206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094976" y="3081528"/>
            <a:ext cx="14813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&lt;&lt;标题&gt;&gt;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49440" y="3593592"/>
            <a:ext cx="1481328" cy="4206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949440" y="3593592"/>
            <a:ext cx="14813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P.S.附言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22208" y="3593592"/>
            <a:ext cx="1481328" cy="4206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522208" y="3593592"/>
            <a:ext cx="14813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精确条目数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94976" y="3593592"/>
            <a:ext cx="1481328" cy="4206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094976" y="3593592"/>
            <a:ext cx="14813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JSON格式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49440" y="4105656"/>
            <a:ext cx="1481328" cy="4206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949440" y="4105656"/>
            <a:ext cx="14813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包含关键词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22208" y="4105656"/>
            <a:ext cx="1481328" cy="4206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522208" y="4105656"/>
            <a:ext cx="14813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禁用词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94976" y="4105656"/>
            <a:ext cx="1481328" cy="4206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0094976" y="4105656"/>
            <a:ext cx="14813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段落数(***)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49440" y="4617720"/>
            <a:ext cx="1481328" cy="4206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949440" y="4617720"/>
            <a:ext cx="14813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*高亮*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22208" y="4617720"/>
            <a:ext cx="1481328" cy="4206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522208" y="4617720"/>
            <a:ext cx="14813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[占位符]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094976" y="4617720"/>
            <a:ext cx="1481328" cy="4206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0094976" y="4617720"/>
            <a:ext cx="14813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SECTION分节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530352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最近一代：</a:t>
            </a: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指令题 800 道 × k=8，样本通过率 24.3%；数学通过率 79.4%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RSI · 基于大模型后训练的指令微调自进化系统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核心模块 ② 配方搜索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元优化器：不仅优化模型，也优化“怎么优化”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配方基因与改动算子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4937760" cy="384048"/>
          </a:xfrm>
          <a:prstGeom prst="roundRect">
            <a:avLst>
              <a:gd name="adj" fmla="val 20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学习率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96596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×/÷1.6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493776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训练轮数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42316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1 / 1.5 / 2 /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0360"/>
            <a:ext cx="4937760" cy="384048"/>
          </a:xfrm>
          <a:prstGeom prst="roundRect">
            <a:avLst>
              <a:gd name="adj" fmla="val 20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LoRA 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88036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8 / 16 / 32 / 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493776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种子数据量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33756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×/÷1.5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94760"/>
            <a:ext cx="4937760" cy="384048"/>
          </a:xfrm>
          <a:prstGeom prst="roundRect">
            <a:avLst>
              <a:gd name="adj" fmla="val 20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3794760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数学金标量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79476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×/÷1.5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51960"/>
            <a:ext cx="493776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4251960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自生成数据占比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25196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±25%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4937760" cy="384048"/>
          </a:xfrm>
          <a:prstGeom prst="roundRect">
            <a:avLst>
              <a:gd name="adj" fmla="val 20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1520" y="4709160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规则增强量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70916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×/÷1.6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493776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31520" y="5166360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初始化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16636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从基座训练 / 冠军续训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6035040" y="1463040"/>
          <a:ext cx="557784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035040" y="4663440"/>
            <a:ext cx="1097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配方搜索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663440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候选 = 冠军配方 + 1–2 个算子；算子按 Beta 后验做 Thompson 采样，通过门控记为成功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5212080"/>
            <a:ext cx="1097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失败修复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212080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上一代“显著更优却被守护指标拦下”的候选作父本，只用针对该失败的修复算子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5760720"/>
            <a:ext cx="1097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数据引擎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760720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按自生成通过率反馈调节采样数 k、温度、课程强度与出题规模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RSI · 基于大模型后训练的指令微调自进化系统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核心模块 ③ 可信评估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评测与门控：防止系统“自我感动”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互不相交的评测集，各司其职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77724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05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dev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2103120"/>
            <a:ext cx="3886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200 道带约束指令 + 150 道 GSM8K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2432304"/>
            <a:ext cx="3886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画曲线、做诊断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98648"/>
            <a:ext cx="5303520" cy="777240"/>
          </a:xfrm>
          <a:prstGeom prst="roundRect">
            <a:avLst>
              <a:gd name="adj" fmla="val 8000"/>
            </a:avLst>
          </a:prstGeom>
          <a:solidFill>
            <a:srgbClr val="D3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898648"/>
            <a:ext cx="1005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2990088"/>
            <a:ext cx="3886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每代新抽：重采样约束 + 未用过的 GSM8K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3319272"/>
            <a:ext cx="3886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冠军与候选同场重测 → 决定晋升（防赢家诅咒）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85616"/>
            <a:ext cx="5303520" cy="777240"/>
          </a:xfrm>
          <a:prstGeom prst="roundRect">
            <a:avLst>
              <a:gd name="adj" fmla="val 8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3785616"/>
            <a:ext cx="1005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29F05"/>
                </a:solidFill>
                <a:latin typeface="Microsoft YaHei"/>
                <a:ea typeface="Microsoft YaHei"/>
                <a:cs typeface="Microsoft YaHei"/>
              </a:rP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3877056"/>
            <a:ext cx="3886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另 200 + 150 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4206240"/>
            <a:ext cx="3886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只在基线与晋升时评测，从不反馈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0916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综合分 = </a:t>
            </a:r>
            <a:r>
              <a:rPr sz="13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0.6×指令严格准确率 + 0.3×GSM8K + 0.1×(1−退化率)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同一代所有候选共享同一份采样数据，差异只来自配方本身。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退化 = 未输出结束符或 4-gram 复读率 &gt; 50%。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晋升必须同时满足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121408"/>
            <a:ext cx="566928" cy="566928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12140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0574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Δ 综合分 &gt;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44144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相对当前冠军，在本代门控集上同场重测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3108960"/>
            <a:ext cx="566928" cy="566928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108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04495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P(更优) ≥ 0.8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4290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按题目配对 bootstrap 2000 次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0" y="4096512"/>
            <a:ext cx="566928" cy="566928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0965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403250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数学回退 ≤ 3 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441655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守护通用推理能力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5084064"/>
            <a:ext cx="566928" cy="566928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508406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50200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退化率上升 ≤ 3 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540410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守护输出稳定性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8978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任一不满足 → 保留旧冠军（自动回滚），并把失败记入算子经验。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RSI · 基于大模型后训练的指令微调自进化系统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实验结果 ① 趋势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进化曲线：10 代中晋升 3 次，每次都经统计门控确认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69494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5544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每代决策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048256"/>
            <a:ext cx="822960" cy="338328"/>
          </a:xfrm>
          <a:prstGeom prst="roundRect">
            <a:avLst>
              <a:gd name="adj" fmla="val 25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863840" y="2048256"/>
            <a:ext cx="82296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回滚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2011680"/>
            <a:ext cx="30175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第1代 </a:t>
            </a:r>
            <a:r>
              <a:rPr sz="11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默认配方  P=1.00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478024"/>
            <a:ext cx="822960" cy="338328"/>
          </a:xfrm>
          <a:prstGeom prst="roundRect">
            <a:avLst>
              <a:gd name="adj" fmla="val 25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63840" y="2478024"/>
            <a:ext cx="82296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回滚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441448"/>
            <a:ext cx="30175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第2代 </a:t>
            </a:r>
            <a:r>
              <a:rPr sz="11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轮数↑  P=1.00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907792"/>
            <a:ext cx="822960" cy="338328"/>
          </a:xfrm>
          <a:prstGeom prst="roundRect">
            <a:avLst>
              <a:gd name="adj" fmla="val 25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82296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回滚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871216"/>
            <a:ext cx="30175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第3代 </a:t>
            </a:r>
            <a:r>
              <a:rPr sz="11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数学金标↓  P=1.00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337560"/>
            <a:ext cx="822960" cy="338328"/>
          </a:xfrm>
          <a:prstGeom prst="roundRect">
            <a:avLst>
              <a:gd name="adj" fmla="val 25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863840" y="3337560"/>
            <a:ext cx="82296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回滚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300984"/>
            <a:ext cx="30175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第4代 </a:t>
            </a:r>
            <a:r>
              <a:rPr sz="11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数学金标↓  P=1.00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3767328"/>
            <a:ext cx="822960" cy="338328"/>
          </a:xfrm>
          <a:prstGeom prst="roundRect">
            <a:avLst>
              <a:gd name="adj" fmla="val 25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0" y="3767328"/>
            <a:ext cx="82296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回滚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3730752"/>
            <a:ext cx="30175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第5代 </a:t>
            </a:r>
            <a:r>
              <a:rPr sz="11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规则增强↑  P=1.00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197096"/>
            <a:ext cx="822960" cy="338328"/>
          </a:xfrm>
          <a:prstGeom prst="roundRect">
            <a:avLst>
              <a:gd name="adj" fmla="val 25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63840" y="4197096"/>
            <a:ext cx="82296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晋升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4160520"/>
            <a:ext cx="30175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第6代 </a:t>
            </a:r>
            <a:r>
              <a:rPr sz="11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轮数↓ + 种子数据↓  P=1.00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4626864"/>
            <a:ext cx="822960" cy="338328"/>
          </a:xfrm>
          <a:prstGeom prst="roundRect">
            <a:avLst>
              <a:gd name="adj" fmla="val 25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0" y="4626864"/>
            <a:ext cx="82296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回滚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4590288"/>
            <a:ext cx="30175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第7代 </a:t>
            </a:r>
            <a:r>
              <a:rPr sz="11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学习率↑  P=0.72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5056632"/>
            <a:ext cx="822960" cy="338328"/>
          </a:xfrm>
          <a:prstGeom prst="roundRect">
            <a:avLst>
              <a:gd name="adj" fmla="val 25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0" y="5056632"/>
            <a:ext cx="82296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回滚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5020056"/>
            <a:ext cx="30175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第8代 </a:t>
            </a:r>
            <a:r>
              <a:rPr sz="11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种子数据↓  P=0.63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5486400"/>
            <a:ext cx="822960" cy="338328"/>
          </a:xfrm>
          <a:prstGeom prst="roundRect">
            <a:avLst>
              <a:gd name="adj" fmla="val 25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0" y="5486400"/>
            <a:ext cx="82296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晋升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5449824"/>
            <a:ext cx="30175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第9代 </a:t>
            </a:r>
            <a:r>
              <a:rPr sz="11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轮数↑ + 学习率↑  P=0.97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0" y="5916168"/>
            <a:ext cx="822960" cy="338328"/>
          </a:xfrm>
          <a:prstGeom prst="roundRect">
            <a:avLst>
              <a:gd name="adj" fmla="val 25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863840" y="5916168"/>
            <a:ext cx="82296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晋升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5879592"/>
            <a:ext cx="30175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第10代 </a:t>
            </a:r>
            <a:r>
              <a:rPr sz="11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种子数据↑  P=0.97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RSI · 基于大模型后训练的指令微调自进化系统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实验结果 ② 分项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能力诊断：哪些约束变强了，哪些仍是短板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17320"/>
          <a:ext cx="7223760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38160" y="16002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提升最大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0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P.S.附言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201168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+67 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514600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引号包裹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251460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+60 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017520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全大写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301752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+48 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520440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*高亮*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352044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+42 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20624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仍然最弱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617720"/>
            <a:ext cx="2103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段落数(***)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4617720"/>
            <a:ext cx="1371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5074920"/>
            <a:ext cx="2103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禁用逗号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074920"/>
            <a:ext cx="1371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34%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532120"/>
            <a:ext cx="2103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精确条目数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5532120"/>
            <a:ext cx="1371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41%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598932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弱项会在下一代课程中被继续加权出题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RSI · 基于大模型后训练的指令微调自进化系统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实验结果 ③ 定性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样例：同一道题，基座 vs 冠军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提示词　</a:t>
            </a:r>
            <a:r>
              <a:rPr sz="115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Name two constitutional rights that the United States guarantees its citizens.  Your answer must contain exactly 3 bullet points. Use the markdown bullet points such as: * This is point 1. * This is point 2 Your answer must contain a title, wrapped in double angular brackets, such as &lt;&lt;poem of joy&gt;&gt;. Highlight at least 1 sections in your answer with markdown, i.e. *highlighted section*.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97480"/>
            <a:ext cx="544068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原始基座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✓ 精确条目数  ✗ &lt;&lt;标题&gt;&gt;  ✗ *高亮*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502920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* The right to free speech
* The right to free press
* The right to free assembly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697480"/>
            <a:ext cx="544068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冠军（第10代）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546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✓ 精确条目数  ✓ &lt;&lt;标题&gt;&gt;  ✓ *高亮*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66160"/>
            <a:ext cx="502920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&lt;&lt;Name two constitutional rights that the United States guarantees its citizens.&gt;&gt;
* **Right to Freedom of Speech:** This is point 1.
* **Right to Freedom of Religion:** This is point 2.
* **Right to Bear Arms:** This is point 3. …（截断）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RSI · 基于大模型后训练的指令微调自进化系统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持续优化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系统自身也在迭代：每个版本都由上一轮证据驱动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600200"/>
            <a:ext cx="685800" cy="6858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25880" y="1938528"/>
            <a:ext cx="735438" cy="0"/>
          </a:xfrm>
          <a:prstGeom prst="line">
            <a:avLst/>
          </a:prstGeom>
          <a:ln w="25400">
            <a:solidFill>
              <a:srgbClr val="E2E6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423160"/>
            <a:ext cx="143952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跑通闭环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1439526" cy="105156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232" y="3017520"/>
            <a:ext cx="111034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症状：微调后永不停止、训练慢 20×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1439526" cy="132588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3232" y="4206240"/>
            <a:ext cx="111034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&lt;|im_end|&gt; 嵌入未训练 → 改用 &lt;|endoftext|&gt;；显存上限 + 分块计损</a:t>
            </a:r>
          </a:p>
        </p:txBody>
      </p:sp>
      <p:sp>
        <p:nvSpPr>
          <p:cNvPr id="12" name="Oval 11"/>
          <p:cNvSpPr/>
          <p:nvPr/>
        </p:nvSpPr>
        <p:spPr>
          <a:xfrm>
            <a:off x="2152758" y="1600200"/>
            <a:ext cx="685800" cy="6858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52758" y="160020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29998" y="1938528"/>
            <a:ext cx="735438" cy="0"/>
          </a:xfrm>
          <a:prstGeom prst="line">
            <a:avLst/>
          </a:prstGeom>
          <a:ln w="25400">
            <a:solidFill>
              <a:srgbClr val="E2E6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52758" y="2423160"/>
            <a:ext cx="143952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失败定向修复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52758" y="2926080"/>
            <a:ext cx="1439526" cy="105156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317350" y="3017520"/>
            <a:ext cx="111034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证据：候选显著更优（P=1.00），却因数学回退被拒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52758" y="4114800"/>
            <a:ext cx="1439526" cy="132588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317350" y="4206240"/>
            <a:ext cx="111034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只在通过门控者中选优；“险胜被拦”的候选作父本，只用修复算子</a:t>
            </a:r>
          </a:p>
        </p:txBody>
      </p:sp>
      <p:sp>
        <p:nvSpPr>
          <p:cNvPr id="20" name="Oval 19"/>
          <p:cNvSpPr/>
          <p:nvPr/>
        </p:nvSpPr>
        <p:spPr>
          <a:xfrm>
            <a:off x="3756876" y="1600200"/>
            <a:ext cx="685800" cy="6858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56876" y="160020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34116" y="1938528"/>
            <a:ext cx="735438" cy="0"/>
          </a:xfrm>
          <a:prstGeom prst="line">
            <a:avLst/>
          </a:prstGeom>
          <a:ln w="25400">
            <a:solidFill>
              <a:srgbClr val="E2E6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56876" y="2423160"/>
            <a:ext cx="143952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选对父本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56876" y="2926080"/>
            <a:ext cx="1439526" cy="105156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921468" y="3017520"/>
            <a:ext cx="111034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证据：最接近通过的候选只差 0.3 点，却没被选为父本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56876" y="4114800"/>
            <a:ext cx="1439526" cy="132588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921468" y="4206240"/>
            <a:ext cx="111034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父本 = 违规最小者；新增数据源消融算子（去掉金标 / 种子减半）</a:t>
            </a:r>
          </a:p>
        </p:txBody>
      </p:sp>
      <p:sp>
        <p:nvSpPr>
          <p:cNvPr id="28" name="Oval 27"/>
          <p:cNvSpPr/>
          <p:nvPr/>
        </p:nvSpPr>
        <p:spPr>
          <a:xfrm>
            <a:off x="5360994" y="1600200"/>
            <a:ext cx="685800" cy="6858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60994" y="160020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138234" y="1938528"/>
            <a:ext cx="735438" cy="0"/>
          </a:xfrm>
          <a:prstGeom prst="line">
            <a:avLst/>
          </a:prstGeom>
          <a:ln w="25400">
            <a:solidFill>
              <a:srgbClr val="E2E6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360994" y="2423160"/>
            <a:ext cx="143952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自蒸馏种子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60994" y="2926080"/>
            <a:ext cx="1439526" cy="105156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5586" y="3017520"/>
            <a:ext cx="111034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证据：8 个候选全部数学回退，调超参无效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60994" y="4114800"/>
            <a:ext cx="1439526" cy="132588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525586" y="4206240"/>
            <a:ext cx="111034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冠军自答种子指令，替代外部答案（SDFT）；新算子先试一次</a:t>
            </a:r>
          </a:p>
        </p:txBody>
      </p:sp>
      <p:sp>
        <p:nvSpPr>
          <p:cNvPr id="36" name="Oval 35"/>
          <p:cNvSpPr/>
          <p:nvPr/>
        </p:nvSpPr>
        <p:spPr>
          <a:xfrm>
            <a:off x="6965112" y="1600200"/>
            <a:ext cx="685800" cy="6858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5112" y="160020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v5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42352" y="1938528"/>
            <a:ext cx="735438" cy="0"/>
          </a:xfrm>
          <a:prstGeom prst="line">
            <a:avLst/>
          </a:prstGeom>
          <a:ln w="25400">
            <a:solidFill>
              <a:srgbClr val="E2E6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965112" y="2423160"/>
            <a:ext cx="143952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推理链校验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65112" y="2926080"/>
            <a:ext cx="1439526" cy="105156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29704" y="3017520"/>
            <a:ext cx="111034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证据：自蒸馏反而更差，假设被否定；回答中位长度 217→117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65112" y="4114800"/>
            <a:ext cx="1439526" cy="132588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129704" y="4206240"/>
            <a:ext cx="111034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根因：STaR 选“最短正确解”奖励蒙对；改为校验推理链 + 中位长度</a:t>
            </a:r>
          </a:p>
        </p:txBody>
      </p:sp>
      <p:sp>
        <p:nvSpPr>
          <p:cNvPr id="44" name="Oval 43"/>
          <p:cNvSpPr/>
          <p:nvPr/>
        </p:nvSpPr>
        <p:spPr>
          <a:xfrm>
            <a:off x="8569230" y="1600200"/>
            <a:ext cx="685800" cy="6858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69230" y="160020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v6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346470" y="1938528"/>
            <a:ext cx="735438" cy="0"/>
          </a:xfrm>
          <a:prstGeom prst="line">
            <a:avLst/>
          </a:prstGeom>
          <a:ln w="25400">
            <a:solidFill>
              <a:srgbClr val="E2E6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569230" y="2423160"/>
            <a:ext cx="143952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防钻空子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69230" y="2926080"/>
            <a:ext cx="1439526" cy="105156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733822" y="3017520"/>
            <a:ext cx="111034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证据：冠军只答“P.S.”也能通过 3 项格式校验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69230" y="4114800"/>
            <a:ext cx="1439526" cy="132588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733822" y="4206240"/>
            <a:ext cx="111034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不足 20 词的回答不入池，并回溯清洗；新增稳健口径指标</a:t>
            </a:r>
          </a:p>
        </p:txBody>
      </p:sp>
      <p:sp>
        <p:nvSpPr>
          <p:cNvPr id="52" name="Oval 51"/>
          <p:cNvSpPr/>
          <p:nvPr/>
        </p:nvSpPr>
        <p:spPr>
          <a:xfrm>
            <a:off x="10173348" y="1600200"/>
            <a:ext cx="685800" cy="685800"/>
          </a:xfrm>
          <a:prstGeom prst="ellipse">
            <a:avLst/>
          </a:prstGeom>
          <a:solidFill>
            <a:srgbClr val="F29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73348" y="160020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73348" y="2423160"/>
            <a:ext cx="143952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防赢家诅咒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173348" y="2926080"/>
            <a:ext cx="1439526" cy="105156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0337940" y="3017520"/>
            <a:ext cx="111034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证据：冠军 dev 数学 85.3%，新抽题上仅 76.0%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173348" y="4114800"/>
            <a:ext cx="1439526" cy="132588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0337940" y="4206240"/>
            <a:ext cx="111034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每代新抽门控集，冠军与候选同场重测后再定晋升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门控标准全程未放宽：先看到结果再改晋升条件，等于移动球门。详见 docs/系统迭代记录.md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RSI · 基于大模型后训练的指令微调自进化系统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关键发现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关键发现：自生成数据的“选择规则”本身就是优化压力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现象：每个 SFT 候选都丢数学分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217 → 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057400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数学回答中位 token 数（基座 → 候选）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11%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017520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自生成数学“解答”只是蒙对的一句话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40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+11 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977640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修复后首个候选 dev 数学（74.0% → 85.3%）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5212080" cy="118872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5074920"/>
            <a:ext cx="48463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根因　</a:t>
            </a:r>
            <a:r>
              <a:rPr sz="125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STaR 只核对最终答案，又选“最短的正确解”；k=8 时蒙对的一句话总是最短 → 模型学会跳过推理。提高 k 的反馈规则还放大了偏差。修复：校验推理链 + 取中位长度，并回溯清洗数据池。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126480" y="1463040"/>
          <a:ext cx="5486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126480" y="5760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C5CCD6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1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v1–v4（最短正确解）　</a:t>
            </a:r>
            <a:r>
              <a:rPr sz="1100" b="0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1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v5（推理链校验）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RSI · 基于大模型后训练的指令微调自进化系统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工程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工程实现：可复现、可续跑、可演示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440680" cy="73152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2011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rsi/constraints.py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554480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18 类约束：渲染 / 校验 / 改写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440680" cy="73152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2011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rsi/synth.py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554480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自数据引擎：ReST-EM · STaR · 课程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5440680" cy="73152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2011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rsi/train.py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423160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LoRA SFT：只对回答计损、分块计损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423160"/>
            <a:ext cx="5440680" cy="73152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0" y="2423160"/>
            <a:ext cx="2011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rsi/evaluate.py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423160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自动评测 + 配对 bootstrap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91840"/>
            <a:ext cx="5440680" cy="73152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3291840"/>
            <a:ext cx="2011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rsi/optimizer.py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291840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算子 · Thompson 采样 · 门控 · 修复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291840"/>
            <a:ext cx="5440680" cy="73152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0" y="3291840"/>
            <a:ext cx="2011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rsi/loop.py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291840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编排器：状态落盘，断点续跑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60520"/>
            <a:ext cx="5440680" cy="73152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4160520"/>
            <a:ext cx="2011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app/demo.py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160520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Gradio：总览 / 诊断 / 样例 / 对话 / 控制台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160520"/>
            <a:ext cx="5440680" cy="731520"/>
          </a:xfrm>
          <a:prstGeom prst="roundRect">
            <a:avLst>
              <a:gd name="adj" fmla="val 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0" y="4160520"/>
            <a:ext cx="2011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scripts/make_ppt.py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160520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本演示文稿由运行数据自动生成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663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资源　</a:t>
            </a:r>
            <a:r>
              <a:rPr sz="125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单张 RTX 4090 24GB；每代约 65 分钟（自生成 + 3 个候选训练评测）；LoRA 训练峰值显存约 14GB。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踩坑　</a:t>
            </a:r>
            <a:r>
              <a:rPr sz="1250" b="0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Qwen3-Base 的 &lt;|im_end|&gt; 嵌入几乎未训练，教它以此结束会永不停止 → 改用 &lt;|endoftext|&gt;；Windows 显存溢出会静默借用内存导致 20× 变慢 → 显存上限 + 分块计损。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RSI · 基于大模型后训练的指令微调自进化系统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Demo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21B2E"/>
                </a:solidFill>
                <a:latin typeface="Microsoft YaHei"/>
                <a:ea typeface="Microsoft YaHei"/>
                <a:cs typeface="Microsoft YaHei"/>
              </a:rPr>
              <a:t>可演示系统</a:t>
            </a:r>
          </a:p>
        </p:txBody>
      </p:sp>
      <p:pic>
        <p:nvPicPr>
          <p:cNvPr id="4" name="Picture 3" descr="demo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690977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50876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进化总览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8562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测试集 KPI、逐代曲线、决策表、反思日志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37744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能力诊断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72491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约束热力图、算子经验、数据构成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24612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样例对比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59359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任选 dev 样例，对比任意两代输出与校验结果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1148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实时对话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46227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自定义任务 + 勾选约束，两代模型同时作答并当场验证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9834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进化控制台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33095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一键继续进化 N 代，实时日志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589788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python app/demo.py --run pilot → http://127.0.0.1:7860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RSI · 基于大模型后训练的指令微调自进化系统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29F05"/>
                </a:solidFill>
                <a:latin typeface="Microsoft YaHei"/>
                <a:ea typeface="Microsoft YaHei"/>
                <a:cs typeface="Microsoft YaHei"/>
              </a:rPr>
              <a:t>展望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局限与下一步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9D3E0"/>
                </a:solidFill>
                <a:latin typeface="Microsoft YaHei"/>
                <a:ea typeface="Microsoft YaHei"/>
                <a:cs typeface="Microsoft YaHei"/>
              </a:rPr>
              <a:t>当前局限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1D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4846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验证器只查格式不查内容，会被钻空子（如只输出“P.S.”）；已加实质性过滤与稳健口径，仍需内容评审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74720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1D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4846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dev 每代重复用于选择，存在轻微过拟合风险（test 已隔离，以 test 为准）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17720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1D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4846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试点规模：1.7B 模型、单卡、每代 3 个候选，搜索空间受算力限制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69164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29F05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31720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1D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2331720"/>
            <a:ext cx="4846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引入模型自评 / 偏好数据，扩展到 DPO 等偏好优化阶段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474720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1D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46520" y="3474720"/>
            <a:ext cx="4846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放大到本机 Qwen3.5-9B（QLoRA），验证规律是否随规模保持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617720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1D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46520" y="4617720"/>
            <a:ext cx="4846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把同一闭环推广到代码、工具调用等可验证任务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代码：github.com/notquitezero-ai/rsi-instruct-evolve · 在线演示：notquitezero-ai.github.io/rsi-instruct-evolve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